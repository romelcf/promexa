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f2621e18404dea" /><Relationship Type="http://schemas.openxmlformats.org/officeDocument/2006/relationships/extended-properties" Target="/docProps/app.xml" Id="Re826828414364ad3" /><Relationship Type="http://schemas.openxmlformats.org/officeDocument/2006/relationships/officeDocument" Target="/ppt/presentation.xml" Id="R9a6863a03d04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348bdaa0b4fdf"/>
  </p:sldMasterIdLst>
  <p:notesMasterIdLst>
    <p:notesMasterId xmlns:r="http://schemas.openxmlformats.org/officeDocument/2006/relationships" r:id="R02c3a93c891a4c32"/>
  </p:notesMasterIdLst>
  <p:sldIdLst>
    <p:sldId xmlns:r="http://schemas.openxmlformats.org/officeDocument/2006/relationships" id="256" r:id="R7867f2be31f745eb"/>
    <p:sldId xmlns:r="http://schemas.openxmlformats.org/officeDocument/2006/relationships" id="257" r:id="Rf3819263cd0b4baf"/>
    <p:sldId xmlns:r="http://schemas.openxmlformats.org/officeDocument/2006/relationships" id="258" r:id="Rd113647aa62846e5"/>
    <p:sldId xmlns:r="http://schemas.openxmlformats.org/officeDocument/2006/relationships" id="259" r:id="R55196247296d4e7a"/>
    <p:sldId xmlns:r="http://schemas.openxmlformats.org/officeDocument/2006/relationships" id="260" r:id="Red9528469a254b02"/>
    <p:sldId xmlns:r="http://schemas.openxmlformats.org/officeDocument/2006/relationships" id="261" r:id="R52a260fd233e4538"/>
    <p:sldId xmlns:r="http://schemas.openxmlformats.org/officeDocument/2006/relationships" id="262" r:id="R8f19dab8c22942a1"/>
    <p:sldId xmlns:r="http://schemas.openxmlformats.org/officeDocument/2006/relationships" id="263" r:id="R3af4b79c29a94326"/>
    <p:sldId xmlns:r="http://schemas.openxmlformats.org/officeDocument/2006/relationships" id="264" r:id="R7eea916bea8a4da1"/>
    <p:sldId xmlns:r="http://schemas.openxmlformats.org/officeDocument/2006/relationships" id="265" r:id="R9d8ef0656af0428f"/>
    <p:sldId xmlns:r="http://schemas.openxmlformats.org/officeDocument/2006/relationships" id="266" r:id="Rfe9d1b793e154253"/>
    <p:sldId xmlns:r="http://schemas.openxmlformats.org/officeDocument/2006/relationships" id="267" r:id="R4a9af33c4a034c95"/>
    <p:sldId xmlns:r="http://schemas.openxmlformats.org/officeDocument/2006/relationships" id="268" r:id="Rb6c35b308b584dc6"/>
    <p:sldId xmlns:r="http://schemas.openxmlformats.org/officeDocument/2006/relationships" id="269" r:id="R0bc4cce6b8da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30b17800d41b7" /><Relationship Type="http://schemas.openxmlformats.org/officeDocument/2006/relationships/slideMaster" Target="/ppt/slideMasters/slideMaster1.xml" Id="Rb61348bdaa0b4fdf" /><Relationship Type="http://schemas.openxmlformats.org/officeDocument/2006/relationships/notesMaster" Target="/ppt/notesMasters/notesMaster1.xml" Id="R02c3a93c891a4c32" /><Relationship Type="http://schemas.openxmlformats.org/officeDocument/2006/relationships/presProps" Target="/ppt/presProps.xml" Id="R993ecf29bd824164" /><Relationship Type="http://schemas.openxmlformats.org/officeDocument/2006/relationships/tableStyles" Target="/ppt/tableStyles.xml" Id="R3871c39378fb44f9" /><Relationship Type="http://schemas.openxmlformats.org/officeDocument/2006/relationships/slide" Target="/ppt/slides/slide1.xml" Id="R7867f2be31f745eb" /><Relationship Type="http://schemas.openxmlformats.org/officeDocument/2006/relationships/slide" Target="/ppt/slides/slide2.xml" Id="Rf3819263cd0b4baf" /><Relationship Type="http://schemas.openxmlformats.org/officeDocument/2006/relationships/slide" Target="/ppt/slides/slide3.xml" Id="Rd113647aa62846e5" /><Relationship Type="http://schemas.openxmlformats.org/officeDocument/2006/relationships/slide" Target="/ppt/slides/slide4.xml" Id="R55196247296d4e7a" /><Relationship Type="http://schemas.openxmlformats.org/officeDocument/2006/relationships/slide" Target="/ppt/slides/slide5.xml" Id="Red9528469a254b02" /><Relationship Type="http://schemas.openxmlformats.org/officeDocument/2006/relationships/slide" Target="/ppt/slides/slide6.xml" Id="R52a260fd233e4538" /><Relationship Type="http://schemas.openxmlformats.org/officeDocument/2006/relationships/slide" Target="/ppt/slides/slide7.xml" Id="R8f19dab8c22942a1" /><Relationship Type="http://schemas.openxmlformats.org/officeDocument/2006/relationships/slide" Target="/ppt/slides/slide8.xml" Id="R3af4b79c29a94326" /><Relationship Type="http://schemas.openxmlformats.org/officeDocument/2006/relationships/slide" Target="/ppt/slides/slide9.xml" Id="R7eea916bea8a4da1" /><Relationship Type="http://schemas.openxmlformats.org/officeDocument/2006/relationships/slide" Target="/ppt/slides/slide10.xml" Id="R9d8ef0656af0428f" /><Relationship Type="http://schemas.openxmlformats.org/officeDocument/2006/relationships/slide" Target="/ppt/slides/slide11.xml" Id="Rfe9d1b793e154253" /><Relationship Type="http://schemas.openxmlformats.org/officeDocument/2006/relationships/slide" Target="/ppt/slides/slide12.xml" Id="R4a9af33c4a034c95" /><Relationship Type="http://schemas.openxmlformats.org/officeDocument/2006/relationships/slide" Target="/ppt/slides/slide13.xml" Id="Rb6c35b308b584dc6" /><Relationship Type="http://schemas.openxmlformats.org/officeDocument/2006/relationships/slide" Target="/ppt/slides/slide14.xml" Id="R0bc4cce6b8da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ab7df834a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2ce834f5d41db" /><Relationship Type="http://schemas.openxmlformats.org/officeDocument/2006/relationships/notesMaster" Target="/ppt/notesMasters/notesMaster1.xml" Id="R90faaa3089cf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53130728b438b" /><Relationship Type="http://schemas.openxmlformats.org/officeDocument/2006/relationships/notesMaster" Target="/ppt/notesMasters/notesMaster1.xml" Id="R7ec7e422d64e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07de390604e43" /><Relationship Type="http://schemas.openxmlformats.org/officeDocument/2006/relationships/notesMaster" Target="/ppt/notesMasters/notesMaster1.xml" Id="Rff5b2daee28c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fa71a1675437c" /><Relationship Type="http://schemas.openxmlformats.org/officeDocument/2006/relationships/notesMaster" Target="/ppt/notesMasters/notesMaster1.xml" Id="Rf8aef445555e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5673a42f7f43a3" /><Relationship Type="http://schemas.openxmlformats.org/officeDocument/2006/relationships/notesMaster" Target="/ppt/notesMasters/notesMaster1.xml" Id="R2b09263055ef47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c709ae91f74190" /><Relationship Type="http://schemas.openxmlformats.org/officeDocument/2006/relationships/notesMaster" Target="/ppt/notesMasters/notesMaster1.xml" Id="R3c47037f6ae545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9d329c7ac46c5" /><Relationship Type="http://schemas.openxmlformats.org/officeDocument/2006/relationships/notesMaster" Target="/ppt/notesMasters/notesMaster1.xml" Id="R2dfa396ef8a848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dd0262ad3a465b" /><Relationship Type="http://schemas.openxmlformats.org/officeDocument/2006/relationships/notesMaster" Target="/ppt/notesMasters/notesMaster1.xml" Id="R324a7ee8fa18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527345d9a64a32" /><Relationship Type="http://schemas.openxmlformats.org/officeDocument/2006/relationships/notesMaster" Target="/ppt/notesMasters/notesMaster1.xml" Id="R5048f679fa8e41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1b91c90454df9" /><Relationship Type="http://schemas.openxmlformats.org/officeDocument/2006/relationships/notesMaster" Target="/ppt/notesMasters/notesMaster1.xml" Id="R68a0716aa45746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8b9156b36146b2" /><Relationship Type="http://schemas.openxmlformats.org/officeDocument/2006/relationships/notesMaster" Target="/ppt/notesMasters/notesMaster1.xml" Id="R5ceeb6a77ac2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a19e35462042a1" /><Relationship Type="http://schemas.openxmlformats.org/officeDocument/2006/relationships/notesMaster" Target="/ppt/notesMasters/notesMaster1.xml" Id="R6e5b282c70e14e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e9e37dfa7a40c6" /><Relationship Type="http://schemas.openxmlformats.org/officeDocument/2006/relationships/notesMaster" Target="/ppt/notesMasters/notesMaster1.xml" Id="R017fb989855145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14214cd34b4ecb" /><Relationship Type="http://schemas.openxmlformats.org/officeDocument/2006/relationships/notesMaster" Target="/ppt/notesMasters/notesMaster1.xml" Id="R33ce7b9ac14242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Introducción.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Descripción del proyecto.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1.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2.</a:t>
            </a:r>
          </a:p>
          <a:p xmlns:a="http://schemas.openxmlformats.org/drawingml/2006/main">
            <a:r>
              <a:t>Los genéricos de TypeScript verifican tipos durante compilación y no aportan validación de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3.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4.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5.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6.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7.</a:t>
            </a:r>
          </a:p>
          <a:p xmlns:a="http://schemas.openxmlformats.org/drawingml/2006/main">
            <a:r>
              <a:t>El fragmento documentado usa AbortSignal.timeout(1500). No muestra estados abierto/cerrado/semia-bierto propios de un circuit breaker.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Semana 7.</a:t>
            </a:r>
          </a:p>
          <a:p xmlns:a="http://schemas.openxmlformats.org/drawingml/2006/main">
            <a:r>
              <a:t>La expresión Math.min(500 * (retries + 1), 5000) produce una espera lineal creciente con tope, aunque el documento la llama exponencial.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Pruebas Automatizadas.</a:t>
            </a:r>
          </a:p>
          <a:p xmlns:a="http://schemas.openxmlformats.org/drawingml/2006/main">
            <a:r>
              <a:t>Resultados transcritos del documento, no reejecutados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Dependencias Transitivas.</a:t>
            </a:r>
          </a:p>
          <a:p xmlns:a="http://schemas.openxmlformats.org/drawingml/2006/main">
            <a:r>
              <a:t>La fuente incluye valoraciones de seguridad y licencias que se resumen como riesgos y propuestas, sin tratarlas como una auditoría vigente.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Cambios aplicados durante este análisis.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CONSTRUCCION_SOFTWARE.md, sección Resumen de Cobertura.</a:t>
            </a:r>
          </a:p>
          <a:p xmlns:a="http://schemas.openxmlformats.org/drawingml/2006/main">
            <a:r>
              <a:t>Explicar el ejemplo como aplicación del concepto en Promexa.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e0789352b40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b9a410f7745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a33a0beec4d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da947b9c14a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b16d2a2db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7521ee249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9396B7-673F-4FC1-A8C0-1F7636658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3F8DF2-81B9-4D38-99B6-EA57655D79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1EA4C0-DE84-4704-8002-C12860C10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7B9CDD-5E12-4110-8D99-E670A1C38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7CD765-4FBA-4013-BC1D-E75456FD6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733809-34E7-4790-922E-81B2753E3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23AC12-BCCC-4CAE-93CF-1D66A749FA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4BE7CF-02DB-4F8A-83F1-F95865ADE8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4A6561-03E7-4D78-ACB2-9CA1E655BE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619F06-DA0D-4077-AD0C-C838B3D4B0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9254332994ecc" /><Relationship Type="http://schemas.openxmlformats.org/officeDocument/2006/relationships/slideLayout" Target="/ppt/slideLayouts/slideLayout1.xml" Id="Rdb6ac51a17634529" /><Relationship Type="http://schemas.openxmlformats.org/officeDocument/2006/relationships/slideLayout" Target="/ppt/slideLayouts/slideLayout2.xml" Id="R6a02e00442384e1d" /><Relationship Type="http://schemas.openxmlformats.org/officeDocument/2006/relationships/slideLayout" Target="/ppt/slideLayouts/slideLayout3.xml" Id="Rb22663b3d41247cf" /><Relationship Type="http://schemas.openxmlformats.org/officeDocument/2006/relationships/slideLayout" Target="/ppt/slideLayouts/slideLayout4.xml" Id="R1847bc1a611e4b07" /><Relationship Type="http://schemas.openxmlformats.org/officeDocument/2006/relationships/slideLayout" Target="/ppt/slideLayouts/slideLayout5.xml" Id="Rf1ce3663cfe044ef" /><Relationship Type="http://schemas.openxmlformats.org/officeDocument/2006/relationships/slideLayout" Target="/ppt/slideLayouts/slideLayout6.xml" Id="Rf8e75ba299ac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ac51a17634529"/>
    <p:sldLayoutId xmlns:r="http://schemas.openxmlformats.org/officeDocument/2006/relationships" id="2147483650" r:id="R6a02e00442384e1d"/>
    <p:sldLayoutId xmlns:r="http://schemas.openxmlformats.org/officeDocument/2006/relationships" id="2147483651" r:id="Rb22663b3d41247cf"/>
    <p:sldLayoutId xmlns:r="http://schemas.openxmlformats.org/officeDocument/2006/relationships" id="2147483652" r:id="R1847bc1a611e4b07"/>
    <p:sldLayoutId xmlns:r="http://schemas.openxmlformats.org/officeDocument/2006/relationships" id="2147483653" r:id="Rf1ce3663cfe044ef"/>
    <p:sldLayoutId xmlns:r="http://schemas.openxmlformats.org/officeDocument/2006/relationships" id="2147483654" r:id="Rf8e75ba299ac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f15f429084e1c" /><Relationship Type="http://schemas.openxmlformats.org/officeDocument/2006/relationships/notesSlide" Target="/ppt/notesSlides/notesSlide1.xml" Id="Rf01ca824739a4a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c4a2773d3456a" /><Relationship Type="http://schemas.openxmlformats.org/officeDocument/2006/relationships/notesSlide" Target="/ppt/notesSlides/notesSlide2.xml" Id="Ra532cc78c2ee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e71be592f4840" /><Relationship Type="http://schemas.openxmlformats.org/officeDocument/2006/relationships/notesSlide" Target="/ppt/notesSlides/notesSlide3.xml" Id="Rf7633844a2c94e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9f5faab544cdb" /><Relationship Type="http://schemas.openxmlformats.org/officeDocument/2006/relationships/notesSlide" Target="/ppt/notesSlides/notesSlide4.xml" Id="Rd5f29d17fbe747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977d4805840eb" /><Relationship Type="http://schemas.openxmlformats.org/officeDocument/2006/relationships/notesSlide" Target="/ppt/notesSlides/notesSlide5.xml" Id="R2b23a9118abb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e160f10d244f7" /><Relationship Type="http://schemas.openxmlformats.org/officeDocument/2006/relationships/notesSlide" Target="/ppt/notesSlides/notesSlide6.xml" Id="R831136633c46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381d3531f4193" /><Relationship Type="http://schemas.openxmlformats.org/officeDocument/2006/relationships/notesSlide" Target="/ppt/notesSlides/notesSlide7.xml" Id="R773871faf96845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d617117cf40e7" /><Relationship Type="http://schemas.openxmlformats.org/officeDocument/2006/relationships/notesSlide" Target="/ppt/notesSlides/notesSlide8.xml" Id="R3aa1938cc97341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b873fc2984b36" /><Relationship Type="http://schemas.openxmlformats.org/officeDocument/2006/relationships/notesSlide" Target="/ppt/notesSlides/notesSlide9.xml" Id="Rc1238aef362049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e1145461b4c2d" /><Relationship Type="http://schemas.openxmlformats.org/officeDocument/2006/relationships/notesSlide" Target="/ppt/notesSlides/notesSlide10.xml" Id="R8c90964014c34e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931b572324638" /><Relationship Type="http://schemas.openxmlformats.org/officeDocument/2006/relationships/notesSlide" Target="/ppt/notesSlides/notesSlide11.xml" Id="R7576949c202340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6dccd0e9b4247" /><Relationship Type="http://schemas.openxmlformats.org/officeDocument/2006/relationships/notesSlide" Target="/ppt/notesSlides/notesSlide12.xml" Id="R81ae389da0e047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8fbf53e074190" /><Relationship Type="http://schemas.openxmlformats.org/officeDocument/2006/relationships/notesSlide" Target="/ppt/notesSlides/notesSlide13.xml" Id="R4837d860c2a041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e300f0ba14ac3" /><Relationship Type="http://schemas.openxmlformats.org/officeDocument/2006/relationships/notesSlide" Target="/ppt/notesSlides/notesSlide14.xml" Id="R8f1710fc65c9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C3719-2087-428E-88E9-1F0AE2E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5D6BE"/>
                </a:solidFill>
              </a:defRPr>
            </a:defPPr>
            <a:lvl1pPr>
              <a:defRPr sz="1500" b="1">
                <a:solidFill>
                  <a:srgbClr val="65D6BE"/>
                </a:solidFill>
              </a:defRPr>
            </a:lvl1pPr>
            <a:lvl2pPr>
              <a:defRPr sz="1500" b="1">
                <a:solidFill>
                  <a:srgbClr val="65D6BE"/>
                </a:solidFill>
              </a:defRPr>
            </a:lvl2pPr>
            <a:lvl3pPr>
              <a:defRPr sz="1500" b="1">
                <a:solidFill>
                  <a:srgbClr val="65D6BE"/>
                </a:solidFill>
              </a:defRPr>
            </a:lvl3pPr>
            <a:lvl4pPr>
              <a:defRPr sz="1500" b="1">
                <a:solidFill>
                  <a:srgbClr val="65D6BE"/>
                </a:solidFill>
              </a:defRPr>
            </a:lvl4pPr>
            <a:lvl5pPr>
              <a:defRPr sz="1500" b="1">
                <a:solidFill>
                  <a:srgbClr val="65D6BE"/>
                </a:solidFill>
              </a:defRPr>
            </a:lvl5pPr>
            <a:lvl6pPr>
              <a:defRPr sz="1500" b="1">
                <a:solidFill>
                  <a:srgbClr val="65D6BE"/>
                </a:solidFill>
              </a:defRPr>
            </a:lvl6pPr>
            <a:lvl7pPr>
              <a:defRPr sz="1500" b="1">
                <a:solidFill>
                  <a:srgbClr val="65D6BE"/>
                </a:solidFill>
              </a:defRPr>
            </a:lvl7pPr>
            <a:lvl8pPr>
              <a:defRPr sz="1500" b="1">
                <a:solidFill>
                  <a:srgbClr val="65D6BE"/>
                </a:solidFill>
              </a:defRPr>
            </a:lvl8pPr>
            <a:lvl9pPr>
              <a:defRPr sz="1500" b="1">
                <a:solidFill>
                  <a:srgbClr val="65D6B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D6BE"/>
                </a:solidFill>
              </a:defRPr>
            </a:pPr>
            <a:r>
              <a:rPr sz="1500" b="1">
                <a:solidFill>
                  <a:srgbClr val="65D6BE"/>
                </a:solidFill>
              </a:rPr>
              <a:t>PROMEXA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C6310-8A1C-4B5F-9433-4270590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</a:defRPr>
            </a:defPPr>
            <a:lvl1pPr>
              <a:defRPr sz="4500" b="1">
                <a:solidFill>
                  <a:srgbClr val="FFFFFF"/>
                </a:solidFill>
              </a:defRPr>
            </a:lvl1pPr>
            <a:lvl2pPr>
              <a:defRPr sz="4500" b="1">
                <a:solidFill>
                  <a:srgbClr val="FFFFFF"/>
                </a:solidFill>
              </a:defRPr>
            </a:lvl2pPr>
            <a:lvl3pPr>
              <a:defRPr sz="4500" b="1">
                <a:solidFill>
                  <a:srgbClr val="FFFFFF"/>
                </a:solidFill>
              </a:defRPr>
            </a:lvl3pPr>
            <a:lvl4pPr>
              <a:defRPr sz="4500" b="1">
                <a:solidFill>
                  <a:srgbClr val="FFFFFF"/>
                </a:solidFill>
              </a:defRPr>
            </a:lvl4pPr>
            <a:lvl5pPr>
              <a:defRPr sz="4500" b="1">
                <a:solidFill>
                  <a:srgbClr val="FFFFFF"/>
                </a:solidFill>
              </a:defRPr>
            </a:lvl5pPr>
            <a:lvl6pPr>
              <a:defRPr sz="4500" b="1">
                <a:solidFill>
                  <a:srgbClr val="FFFFFF"/>
                </a:solidFill>
              </a:defRPr>
            </a:lvl6pPr>
            <a:lvl7pPr>
              <a:defRPr sz="4500" b="1">
                <a:solidFill>
                  <a:srgbClr val="FFFFFF"/>
                </a:solidFill>
              </a:defRPr>
            </a:lvl7pPr>
            <a:lvl8pPr>
              <a:defRPr sz="4500" b="1">
                <a:solidFill>
                  <a:srgbClr val="FFFFFF"/>
                </a:solidFill>
              </a:defRPr>
            </a:lvl8pPr>
            <a:lvl9pPr>
              <a:defRPr sz="4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Tecnologías de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Construcción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84D09-135E-453D-B52C-0BC62A7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Aplicación de los siete temas del curso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en una plataforma social con marketplace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0328C-2220-45C1-873A-7322167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D6BE"/>
                </a:solidFill>
              </a:defRPr>
            </a:defPPr>
            <a:lvl1pPr>
              <a:defRPr sz="1200" b="0">
                <a:solidFill>
                  <a:srgbClr val="65D6BE"/>
                </a:solidFill>
              </a:defRPr>
            </a:lvl1pPr>
            <a:lvl2pPr>
              <a:defRPr sz="1200" b="0">
                <a:solidFill>
                  <a:srgbClr val="65D6BE"/>
                </a:solidFill>
              </a:defRPr>
            </a:lvl2pPr>
            <a:lvl3pPr>
              <a:defRPr sz="1200" b="0">
                <a:solidFill>
                  <a:srgbClr val="65D6BE"/>
                </a:solidFill>
              </a:defRPr>
            </a:lvl3pPr>
            <a:lvl4pPr>
              <a:defRPr sz="1200" b="0">
                <a:solidFill>
                  <a:srgbClr val="65D6BE"/>
                </a:solidFill>
              </a:defRPr>
            </a:lvl4pPr>
            <a:lvl5pPr>
              <a:defRPr sz="1200" b="0">
                <a:solidFill>
                  <a:srgbClr val="65D6BE"/>
                </a:solidFill>
              </a:defRPr>
            </a:lvl5pPr>
            <a:lvl6pPr>
              <a:defRPr sz="1200" b="0">
                <a:solidFill>
                  <a:srgbClr val="65D6BE"/>
                </a:solidFill>
              </a:defRPr>
            </a:lvl6pPr>
            <a:lvl7pPr>
              <a:defRPr sz="1200" b="0">
                <a:solidFill>
                  <a:srgbClr val="65D6BE"/>
                </a:solidFill>
              </a:defRPr>
            </a:lvl7pPr>
            <a:lvl8pPr>
              <a:defRPr sz="1200" b="0">
                <a:solidFill>
                  <a:srgbClr val="65D6BE"/>
                </a:solidFill>
              </a:defRPr>
            </a:lvl8pPr>
            <a:lvl9pPr>
              <a:defRPr sz="1200" b="0">
                <a:solidFill>
                  <a:srgbClr val="65D6B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D6BE"/>
                </a:solidFill>
              </a:defRPr>
            </a:pPr>
            <a:r>
              <a:rPr sz="1200" b="0">
                <a:solidFill>
                  <a:srgbClr val="65D6B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7424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08F2D-8331-4F3B-906B-D2AD05E0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FBEB-9BF3-487F-A234-9E9DD22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Una plataforma con varios dominios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1A638-0C26-4818-AE45-5F4486F8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Red social y perfiles de usuario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Marketplace y publicación de productos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Mensajería con WebSockets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Recomendaciones mediante un servicio 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A6217-7EDE-42AC-B8E0-A3DC08D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0718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E98F5-FB26-4679-ACBC-B1026E0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9D28D-FB1F-45D3-8B76-6B25D0C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Construcción, reúso y dependencias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2EFAD-7B7D-4BA9-BED3-A6A9AB1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pnpm workspaces organiza el monorepo.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NestJS integra módulos y resuelve dependencias.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Prisma aporta un cliente de acceso a datos.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bcryptjs y sharp resuelven tareas especializadas.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CB08D-D048-4884-8D62-2A60EDC0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1138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12ABA-D538-4FC5-BCA7-A1EBA88A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B3776-2FD2-4A33-854A-F34A8CA7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Componentes en tiempo de ejecución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FDE8A-5ED6-4FFE-875A-DF7274E4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inyección evita crear dependencias dentro del servicio.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Los decoradores aportan metadatos para rutas y proveedores.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TypeScript usa genéricos para comprobar tipos al compilar.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configuración activa el adaptador Redis al arrancar.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3D303-6E48-41FD-8733-081E4DD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8383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27D6-5810-4048-AD07-543645CA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66959-6AF7-4D99-8882-FFA3E81A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Desarrollo por contratos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91009-350B-412E-B87D-E6A7CCF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RegisterDto exige correo válido y clave de 8 caracteres.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profileType admite personal o business.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transformación normaliza el correo antes del servicio.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Los controladores distinguen consultas y comandos.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49FEE-FD10-4C70-B563-20D358E4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0293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8C83B-ACB3-49B1-870A-41C7C94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949D3-EE6E-4034-A686-600C3060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Validación en las fronteras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75830-628B-483A-A51C-C8A3A6F7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ValidationPipe rechaza propiedades no declaradas.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servicio valida reglas del cambio de contraseña.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gateway comprueba mensajes de hasta 5000 caracteres.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Storage valida rutas y el formato real de las imágenes.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9438-192F-45B8-A208-3B16E0C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5649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E9D0E-74BA-431E-A7F5-BDB9697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1F613-C4A8-4E29-AC33-4ADF738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Errores con respuestas consistentes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C53F4-7679-4965-8208-BFBC4E5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filtro global convierte excepciones en respuestas HTTP.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Los fallos inesperados generan un mensaje genérico.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Los registros internos conservan contexto del error.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Prisma P2002 se traduce a 409 y P2025 a 404.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E1278-9E32-49BD-9D9D-1305186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0780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BDE42-06B6-4CA9-8228-F8FA12F9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83002-16D4-480D-82FA-F593FFC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Concurrencia y estado compartido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CD9C-DB14-4702-8A79-35F8B90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async/await permite atender operaciones de I/O sin bloquear.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clientMessageId ayuda a recuperar mensajes ya guardados.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cambio de clave comprueba el hash leído antes de escribir.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presenceRevision descarta operaciones obsoletas.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BA07C-2AE7-42D6-8710-C9D82CA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4699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4152-0B1E-47A5-81BC-110A8A7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B6D5B-5D47-43A0-A6A2-110246A5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Resiliencia de las recomendaciones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BB143-95D0-47CF-9B70-8730FB49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llamada a ML tiene un timeout de 1500 ms.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Si falla, el servicio usa una heurística local.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usuario conserva una lista de recomendaciones.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timeout limita la espera, sin implementar un circuit breaker completo.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030D1-B71F-493D-8053-0FD0EBF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8927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03B32-1845-4449-8CCD-9D666B0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SEMANA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24454-BA43-4DC0-94AC-8AAC762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Contención de fallas en Redis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C27EB-10FF-41D1-A664-BA447E5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estado de salud informa si la presencia está disponible.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presenceUnavailable comunica la degradación al cliente.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documento describe continuidad del chat sin presencia.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reconexión aumenta 500 ms por intento hasta 5000 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1CFCF-CD12-4C53-BDDF-F7ADEF4A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136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2AED8-6698-4912-910A-F0330EE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PRUEBAS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0AD8B-9413-4352-96D4-6471A35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Evidencia reportada en el documento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A4C77-C2D3-4FBF-8FFF-C17531B5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Backend: 36 casos aprobados y 0 fallidos en 8 suites.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Servicio ML: 13 pruebas con pytest.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Cobertura de chat, sesiones, scoring y límites.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Son resultados del archivo fuente, sin una nueva ejecución.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873F5-219A-4EB6-8EFA-A084571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73449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46A1E-6778-42B3-B113-83799E6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DEPENDENCIAS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6CE2A-F69B-4962-A2E0-6FE57B89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Riesgos y medidas propuestas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6E4B1-C6C2-4E0A-9DCA-ECB966A9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sharp y libvips requieren compatibilidad de plataforma.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Prisma necesita sus motores disponibles en despliegue.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El documento propone fijar versiones Python en producción.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La evaluación de CVE y licencias requiere auditoría actualizada.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27CF5-794F-4E8B-89BC-AD93ACC3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33848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B3E42-557A-40DC-9EF9-C44F599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87D72"/>
                </a:solidFill>
              </a:defRPr>
            </a:defPPr>
            <a:lvl1pPr>
              <a:defRPr sz="1500" b="1">
                <a:solidFill>
                  <a:srgbClr val="187D72"/>
                </a:solidFill>
              </a:defRPr>
            </a:lvl1pPr>
            <a:lvl2pPr>
              <a:defRPr sz="1500" b="1">
                <a:solidFill>
                  <a:srgbClr val="187D72"/>
                </a:solidFill>
              </a:defRPr>
            </a:lvl2pPr>
            <a:lvl3pPr>
              <a:defRPr sz="1500" b="1">
                <a:solidFill>
                  <a:srgbClr val="187D72"/>
                </a:solidFill>
              </a:defRPr>
            </a:lvl3pPr>
            <a:lvl4pPr>
              <a:defRPr sz="1500" b="1">
                <a:solidFill>
                  <a:srgbClr val="187D72"/>
                </a:solidFill>
              </a:defRPr>
            </a:lvl4pPr>
            <a:lvl5pPr>
              <a:defRPr sz="1500" b="1">
                <a:solidFill>
                  <a:srgbClr val="187D72"/>
                </a:solidFill>
              </a:defRPr>
            </a:lvl5pPr>
            <a:lvl6pPr>
              <a:defRPr sz="1500" b="1">
                <a:solidFill>
                  <a:srgbClr val="187D72"/>
                </a:solidFill>
              </a:defRPr>
            </a:lvl6pPr>
            <a:lvl7pPr>
              <a:defRPr sz="1500" b="1">
                <a:solidFill>
                  <a:srgbClr val="187D72"/>
                </a:solidFill>
              </a:defRPr>
            </a:lvl7pPr>
            <a:lvl8pPr>
              <a:defRPr sz="1500" b="1">
                <a:solidFill>
                  <a:srgbClr val="187D72"/>
                </a:solidFill>
              </a:defRPr>
            </a:lvl8pPr>
            <a:lvl9pPr>
              <a:defRPr sz="1500" b="1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87D72"/>
                </a:solidFill>
              </a:defRPr>
            </a:pPr>
            <a:r>
              <a:rPr sz="1500" b="1">
                <a:solidFill>
                  <a:srgbClr val="187D72"/>
                </a:solidFill>
              </a:rPr>
              <a:t>CAMBIOS DOCUMENTADOS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2D754-A6DB-4C9C-B7FA-C717B88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B46"/>
                </a:solidFill>
              </a:defRPr>
            </a:defPPr>
            <a:lvl1pPr>
              <a:defRPr sz="3300" b="1">
                <a:solidFill>
                  <a:srgbClr val="102B46"/>
                </a:solidFill>
              </a:defRPr>
            </a:lvl1pPr>
            <a:lvl2pPr>
              <a:defRPr sz="3300" b="1">
                <a:solidFill>
                  <a:srgbClr val="102B46"/>
                </a:solidFill>
              </a:defRPr>
            </a:lvl2pPr>
            <a:lvl3pPr>
              <a:defRPr sz="3300" b="1">
                <a:solidFill>
                  <a:srgbClr val="102B46"/>
                </a:solidFill>
              </a:defRPr>
            </a:lvl3pPr>
            <a:lvl4pPr>
              <a:defRPr sz="3300" b="1">
                <a:solidFill>
                  <a:srgbClr val="102B46"/>
                </a:solidFill>
              </a:defRPr>
            </a:lvl4pPr>
            <a:lvl5pPr>
              <a:defRPr sz="3300" b="1">
                <a:solidFill>
                  <a:srgbClr val="102B46"/>
                </a:solidFill>
              </a:defRPr>
            </a:lvl5pPr>
            <a:lvl6pPr>
              <a:defRPr sz="3300" b="1">
                <a:solidFill>
                  <a:srgbClr val="102B46"/>
                </a:solidFill>
              </a:defRPr>
            </a:lvl6pPr>
            <a:lvl7pPr>
              <a:defRPr sz="3300" b="1">
                <a:solidFill>
                  <a:srgbClr val="102B46"/>
                </a:solidFill>
              </a:defRPr>
            </a:lvl7pPr>
            <a:lvl8pPr>
              <a:defRPr sz="3300" b="1">
                <a:solidFill>
                  <a:srgbClr val="102B46"/>
                </a:solidFill>
              </a:defRPr>
            </a:lvl8pPr>
            <a:lvl9pPr>
              <a:defRPr sz="33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46"/>
                </a:solidFill>
              </a:defRPr>
            </a:pPr>
            <a:r>
              <a:rPr sz="3300" b="1">
                <a:solidFill>
                  <a:srgbClr val="102B46"/>
                </a:solidFill>
              </a:rPr>
              <a:t>Implementaciones y soporte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F095B-4B78-4E8F-A034-B131CCE4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Filtro global HTTP y registro en main.ts.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Documentación del fallback del servicio ML.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Scripts de prueba y suite de recomendaciones.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Documento de arquitectura con decisiones y secuencias.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D254-91C1-4D61-9D61-CA1D0F4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87D72"/>
                </a:solidFill>
              </a:defRPr>
            </a:defPPr>
            <a:lvl1pPr>
              <a:defRPr sz="1200" b="0">
                <a:solidFill>
                  <a:srgbClr val="187D72"/>
                </a:solidFill>
              </a:defRPr>
            </a:lvl1pPr>
            <a:lvl2pPr>
              <a:defRPr sz="1200" b="0">
                <a:solidFill>
                  <a:srgbClr val="187D72"/>
                </a:solidFill>
              </a:defRPr>
            </a:lvl2pPr>
            <a:lvl3pPr>
              <a:defRPr sz="1200" b="0">
                <a:solidFill>
                  <a:srgbClr val="187D72"/>
                </a:solidFill>
              </a:defRPr>
            </a:lvl3pPr>
            <a:lvl4pPr>
              <a:defRPr sz="1200" b="0">
                <a:solidFill>
                  <a:srgbClr val="187D72"/>
                </a:solidFill>
              </a:defRPr>
            </a:lvl4pPr>
            <a:lvl5pPr>
              <a:defRPr sz="1200" b="0">
                <a:solidFill>
                  <a:srgbClr val="187D72"/>
                </a:solidFill>
              </a:defRPr>
            </a:lvl5pPr>
            <a:lvl6pPr>
              <a:defRPr sz="1200" b="0">
                <a:solidFill>
                  <a:srgbClr val="187D72"/>
                </a:solidFill>
              </a:defRPr>
            </a:lvl6pPr>
            <a:lvl7pPr>
              <a:defRPr sz="1200" b="0">
                <a:solidFill>
                  <a:srgbClr val="187D72"/>
                </a:solidFill>
              </a:defRPr>
            </a:lvl7pPr>
            <a:lvl8pPr>
              <a:defRPr sz="1200" b="0">
                <a:solidFill>
                  <a:srgbClr val="187D72"/>
                </a:solidFill>
              </a:defRPr>
            </a:lvl8pPr>
            <a:lvl9pPr>
              <a:defRPr sz="1200" b="0">
                <a:solidFill>
                  <a:srgbClr val="187D7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87D72"/>
                </a:solidFill>
              </a:defRPr>
            </a:pPr>
            <a:r>
              <a:rPr sz="1200" b="0">
                <a:solidFill>
                  <a:srgbClr val="187D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31344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34503-EBBA-4306-B6EB-44141AB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5D6BE"/>
                </a:solidFill>
              </a:defRPr>
            </a:defPPr>
            <a:lvl1pPr>
              <a:defRPr sz="1500" b="1">
                <a:solidFill>
                  <a:srgbClr val="65D6BE"/>
                </a:solidFill>
              </a:defRPr>
            </a:lvl1pPr>
            <a:lvl2pPr>
              <a:defRPr sz="1500" b="1">
                <a:solidFill>
                  <a:srgbClr val="65D6BE"/>
                </a:solidFill>
              </a:defRPr>
            </a:lvl2pPr>
            <a:lvl3pPr>
              <a:defRPr sz="1500" b="1">
                <a:solidFill>
                  <a:srgbClr val="65D6BE"/>
                </a:solidFill>
              </a:defRPr>
            </a:lvl3pPr>
            <a:lvl4pPr>
              <a:defRPr sz="1500" b="1">
                <a:solidFill>
                  <a:srgbClr val="65D6BE"/>
                </a:solidFill>
              </a:defRPr>
            </a:lvl4pPr>
            <a:lvl5pPr>
              <a:defRPr sz="1500" b="1">
                <a:solidFill>
                  <a:srgbClr val="65D6BE"/>
                </a:solidFill>
              </a:defRPr>
            </a:lvl5pPr>
            <a:lvl6pPr>
              <a:defRPr sz="1500" b="1">
                <a:solidFill>
                  <a:srgbClr val="65D6BE"/>
                </a:solidFill>
              </a:defRPr>
            </a:lvl6pPr>
            <a:lvl7pPr>
              <a:defRPr sz="1500" b="1">
                <a:solidFill>
                  <a:srgbClr val="65D6BE"/>
                </a:solidFill>
              </a:defRPr>
            </a:lvl7pPr>
            <a:lvl8pPr>
              <a:defRPr sz="1500" b="1">
                <a:solidFill>
                  <a:srgbClr val="65D6BE"/>
                </a:solidFill>
              </a:defRPr>
            </a:lvl8pPr>
            <a:lvl9pPr>
              <a:defRPr sz="1500" b="1">
                <a:solidFill>
                  <a:srgbClr val="65D6B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D6BE"/>
                </a:solidFill>
              </a:defRPr>
            </a:pPr>
            <a:r>
              <a:rPr sz="1500" b="1">
                <a:solidFill>
                  <a:srgbClr val="65D6BE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90327-B7C5-436A-B883-AA2444E3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Los siete temas tienen ejemplos concretos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911AC-4B41-4021-8195-2E771208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La modularidad facilita construir e integrar.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Los contratos y validaciones protegen las entradas.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La concurrencia exige controlar duplicados y conflictos.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La resiliencia conserva funciones ante fallos parciales.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89255-12CE-491F-9972-5E9348AC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D6BE"/>
                </a:solidFill>
              </a:defRPr>
            </a:defPPr>
            <a:lvl1pPr>
              <a:defRPr sz="1200" b="0">
                <a:solidFill>
                  <a:srgbClr val="65D6BE"/>
                </a:solidFill>
              </a:defRPr>
            </a:lvl1pPr>
            <a:lvl2pPr>
              <a:defRPr sz="1200" b="0">
                <a:solidFill>
                  <a:srgbClr val="65D6BE"/>
                </a:solidFill>
              </a:defRPr>
            </a:lvl2pPr>
            <a:lvl3pPr>
              <a:defRPr sz="1200" b="0">
                <a:solidFill>
                  <a:srgbClr val="65D6BE"/>
                </a:solidFill>
              </a:defRPr>
            </a:lvl3pPr>
            <a:lvl4pPr>
              <a:defRPr sz="1200" b="0">
                <a:solidFill>
                  <a:srgbClr val="65D6BE"/>
                </a:solidFill>
              </a:defRPr>
            </a:lvl4pPr>
            <a:lvl5pPr>
              <a:defRPr sz="1200" b="0">
                <a:solidFill>
                  <a:srgbClr val="65D6BE"/>
                </a:solidFill>
              </a:defRPr>
            </a:lvl5pPr>
            <a:lvl6pPr>
              <a:defRPr sz="1200" b="0">
                <a:solidFill>
                  <a:srgbClr val="65D6BE"/>
                </a:solidFill>
              </a:defRPr>
            </a:lvl6pPr>
            <a:lvl7pPr>
              <a:defRPr sz="1200" b="0">
                <a:solidFill>
                  <a:srgbClr val="65D6BE"/>
                </a:solidFill>
              </a:defRPr>
            </a:lvl7pPr>
            <a:lvl8pPr>
              <a:defRPr sz="1200" b="0">
                <a:solidFill>
                  <a:srgbClr val="65D6BE"/>
                </a:solidFill>
              </a:defRPr>
            </a:lvl8pPr>
            <a:lvl9pPr>
              <a:defRPr sz="1200" b="0">
                <a:solidFill>
                  <a:srgbClr val="65D6B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D6BE"/>
                </a:solidFill>
              </a:defRPr>
            </a:pPr>
            <a:r>
              <a:rPr sz="1200" b="0">
                <a:solidFill>
                  <a:srgbClr val="65D6B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90213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2026-10-24T01:30:05.8340000Z</dcterms:created>
  <dcterms:modified xsi:type="dcterms:W3CDTF">2026-10-24T01:30:05.8340000Z</dcterms:modified>
</coreProperties>
</file>